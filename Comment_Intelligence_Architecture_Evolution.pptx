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377440"/>
            <a:ext cx="7315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1440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COMMENT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14400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3800" b="1">
                <a:solidFill>
                  <a:srgbClr val="FAFAFA"/>
                </a:solidFill>
              </a:defRPr>
            </a:pPr>
            <a:r>
              <a:t>System Architecture Evolution:</a:t>
            </a:r>
          </a:p>
          <a:p>
            <a:pPr algn="l">
              <a:spcBef>
                <a:spcPts val="200"/>
              </a:spcBef>
              <a:defRPr sz="3800" b="1">
                <a:solidFill>
                  <a:srgbClr val="FAFAFA"/>
                </a:solidFill>
              </a:defRPr>
            </a:pPr>
            <a:r>
              <a:t>Before &amp; After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73152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600" b="0">
                <a:solidFill>
                  <a:srgbClr val="A1A1AA"/>
                </a:solidFill>
              </a:defRPr>
            </a:pPr>
            <a:r>
              <a:t>From API-dependent prototype to a local, deterministic,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A1A1AA"/>
                </a:solidFill>
              </a:defRPr>
            </a:pPr>
            <a:r>
              <a:t>engagement-calibrated sentiment diagnostic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120640"/>
            <a:ext cx="54864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Sayed Saifullah  •  VIT  •  Semester 5 AI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200" b="1">
                <a:solidFill>
                  <a:srgbClr val="F87171"/>
                </a:solidFill>
              </a:defRPr>
            </a:pPr>
            <a:r>
              <a:t>ARCHITECTURE: BEFORE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400" b="1">
                <a:solidFill>
                  <a:srgbClr val="FAFAFA"/>
                </a:solidFill>
              </a:defRPr>
            </a:pPr>
            <a:r>
              <a:t>Legacy System — Single Gemini API Prompt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828800" cy="64008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1">
                <a:solidFill>
                  <a:srgbClr val="FAFAFA"/>
                </a:solidFill>
              </a:defRPr>
            </a:pPr>
            <a:r>
              <a:t>User Enters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FAFAFA"/>
                </a:solidFill>
              </a:defRPr>
            </a:pPr>
            <a:r>
              <a:t>YouTube URL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2148840"/>
            <a:ext cx="731520" cy="0"/>
          </a:xfrm>
          <a:prstGeom prst="line">
            <a:avLst/>
          </a:prstGeom>
          <a:ln w="19050">
            <a:solidFill>
              <a:srgbClr val="A1A1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74720" y="1828800"/>
            <a:ext cx="2011680" cy="64008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1">
                <a:solidFill>
                  <a:srgbClr val="22D3EE"/>
                </a:solidFill>
              </a:defRPr>
            </a:pPr>
            <a:r>
              <a:t>YouTube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22D3EE"/>
                </a:solidFill>
              </a:defRPr>
            </a:pPr>
            <a:r>
              <a:t>Data API v3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0" y="2148840"/>
            <a:ext cx="731520" cy="0"/>
          </a:xfrm>
          <a:prstGeom prst="line">
            <a:avLst/>
          </a:prstGeom>
          <a:ln w="19050">
            <a:solidFill>
              <a:srgbClr val="A1A1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17920" y="1828800"/>
            <a:ext cx="1828800" cy="64008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1">
                <a:solidFill>
                  <a:srgbClr val="FB923C"/>
                </a:solidFill>
              </a:defRPr>
            </a:pPr>
            <a:r>
              <a:t>Sample Top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FB923C"/>
                </a:solidFill>
              </a:defRPr>
            </a:pPr>
            <a:r>
              <a:t>150 Comments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46720" y="2148840"/>
            <a:ext cx="731520" cy="0"/>
          </a:xfrm>
          <a:prstGeom prst="line">
            <a:avLst/>
          </a:prstGeom>
          <a:ln w="19050">
            <a:solidFill>
              <a:srgbClr val="A1A1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778240" y="1463040"/>
            <a:ext cx="2560320" cy="1371600"/>
          </a:xfrm>
          <a:prstGeom prst="roundRect">
            <a:avLst/>
          </a:prstGeom>
          <a:solidFill>
            <a:srgbClr val="3C141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Google Gemini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F87171"/>
                </a:solidFill>
              </a:defRPr>
            </a:pPr>
            <a:r>
              <a:t>3.5 Flash Lite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F87171"/>
                </a:solidFill>
              </a:defRPr>
            </a:pPr>
            <a:r>
              <a:t>(Single Prompt)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26880" y="2834640"/>
            <a:ext cx="0" cy="731520"/>
          </a:xfrm>
          <a:prstGeom prst="line">
            <a:avLst/>
          </a:prstGeom>
          <a:ln w="19050">
            <a:solidFill>
              <a:srgbClr val="A1A1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2834640"/>
            <a:ext cx="0" cy="731520"/>
          </a:xfrm>
          <a:prstGeom prst="line">
            <a:avLst/>
          </a:prstGeom>
          <a:ln w="19050">
            <a:solidFill>
              <a:srgbClr val="A1A1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789920" y="2834640"/>
            <a:ext cx="0" cy="731520"/>
          </a:xfrm>
          <a:prstGeom prst="line">
            <a:avLst/>
          </a:prstGeom>
          <a:ln w="19050">
            <a:solidFill>
              <a:srgbClr val="A1A1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95360" y="3566160"/>
            <a:ext cx="1371600" cy="594360"/>
          </a:xfrm>
          <a:prstGeom prst="roundRect">
            <a:avLst/>
          </a:prstGeom>
          <a:solidFill>
            <a:srgbClr val="27272A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000" b="0">
                <a:solidFill>
                  <a:srgbClr val="A1A1AA"/>
                </a:solidFill>
              </a:defRPr>
            </a:pPr>
            <a:r>
              <a:t>Sentiment</a:t>
            </a:r>
          </a:p>
          <a:p>
            <a:pPr algn="ctr">
              <a:spcBef>
                <a:spcPts val="200"/>
              </a:spcBef>
              <a:defRPr sz="1000" b="0">
                <a:solidFill>
                  <a:srgbClr val="A1A1AA"/>
                </a:solidFill>
              </a:defRPr>
            </a:pPr>
            <a:r>
              <a:t>Counts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3566160"/>
            <a:ext cx="1188720" cy="594360"/>
          </a:xfrm>
          <a:prstGeom prst="roundRect">
            <a:avLst/>
          </a:prstGeom>
          <a:solidFill>
            <a:srgbClr val="27272A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000" b="0">
                <a:solidFill>
                  <a:srgbClr val="A1A1AA"/>
                </a:solidFill>
              </a:defRPr>
            </a:pPr>
            <a:r>
              <a:t>Topic</a:t>
            </a:r>
          </a:p>
          <a:p>
            <a:pPr algn="ctr">
              <a:spcBef>
                <a:spcPts val="200"/>
              </a:spcBef>
              <a:defRPr sz="1000" b="0">
                <a:solidFill>
                  <a:srgbClr val="A1A1AA"/>
                </a:solidFill>
              </a:defRPr>
            </a:pPr>
            <a:r>
              <a:t>Clusters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95560" y="3566160"/>
            <a:ext cx="1280160" cy="594360"/>
          </a:xfrm>
          <a:prstGeom prst="roundRect">
            <a:avLst/>
          </a:prstGeom>
          <a:solidFill>
            <a:srgbClr val="27272A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000" b="0">
                <a:solidFill>
                  <a:srgbClr val="A1A1AA"/>
                </a:solidFill>
              </a:defRPr>
            </a:pPr>
            <a:r>
              <a:t>Executive</a:t>
            </a:r>
          </a:p>
          <a:p>
            <a:pPr algn="ctr">
              <a:spcBef>
                <a:spcPts val="200"/>
              </a:spcBef>
              <a:defRPr sz="1000" b="0">
                <a:solidFill>
                  <a:srgbClr val="A1A1AA"/>
                </a:solidFill>
              </a:defRPr>
            </a:pPr>
            <a:r>
              <a:t>Summary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200400"/>
            <a:ext cx="5029200" cy="2926080"/>
          </a:xfrm>
          <a:prstGeom prst="roundRect">
            <a:avLst/>
          </a:prstGeom>
          <a:solidFill>
            <a:srgbClr val="1E0F0F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spcBef>
                <a:spcPts val="500"/>
              </a:spcBef>
              <a:defRPr sz="1300" b="1">
                <a:solidFill>
                  <a:srgbClr val="F87171"/>
                </a:solidFill>
              </a:defRPr>
            </a:pPr>
            <a:r>
              <a:t>CRITICAL PROBLEMS</a:t>
            </a:r>
          </a:p>
          <a:p>
            <a:pPr>
              <a:spcBef>
                <a:spcPts val="500"/>
              </a:spcBef>
              <a:defRPr sz="600" b="0">
                <a:solidFill>
                  <a:srgbClr val="F87171"/>
                </a:solidFill>
              </a:defRPr>
            </a:pPr>
          </a:p>
          <a:p>
            <a:pPr>
              <a:spcBef>
                <a:spcPts val="500"/>
              </a:spcBef>
              <a:defRPr sz="1200" b="0">
                <a:solidFill>
                  <a:srgbClr val="FAFAFA"/>
                </a:solidFill>
              </a:defRPr>
            </a:pPr>
            <a:r>
              <a:t>❌  100% API Dependent — crashes when credits run out</a:t>
            </a:r>
          </a:p>
          <a:p>
            <a:pPr>
              <a:spcBef>
                <a:spcPts val="500"/>
              </a:spcBef>
              <a:defRPr sz="1200" b="0">
                <a:solidFill>
                  <a:srgbClr val="FAFAFA"/>
                </a:solidFill>
              </a:defRPr>
            </a:pPr>
            <a:r>
              <a:t>❌  Only 150 of 500 comments analyzed (70% data loss)</a:t>
            </a:r>
          </a:p>
          <a:p>
            <a:pPr>
              <a:spcBef>
                <a:spcPts val="500"/>
              </a:spcBef>
              <a:defRPr sz="1200" b="0">
                <a:solidFill>
                  <a:srgbClr val="FAFAFA"/>
                </a:solidFill>
              </a:defRPr>
            </a:pPr>
            <a:r>
              <a:t>❌  LLM "guesses" sentiment counts — not deterministic</a:t>
            </a:r>
          </a:p>
          <a:p>
            <a:pPr>
              <a:spcBef>
                <a:spcPts val="500"/>
              </a:spcBef>
              <a:defRPr sz="1200" b="0">
                <a:solidFill>
                  <a:srgbClr val="FAFAFA"/>
                </a:solidFill>
              </a:defRPr>
            </a:pPr>
            <a:r>
              <a:t>❌  5-15 second latency per analysis (network bound)</a:t>
            </a:r>
          </a:p>
          <a:p>
            <a:pPr>
              <a:spcBef>
                <a:spcPts val="500"/>
              </a:spcBef>
              <a:defRPr sz="1200" b="0">
                <a:solidFill>
                  <a:srgbClr val="FAFAFA"/>
                </a:solidFill>
              </a:defRPr>
            </a:pPr>
            <a:r>
              <a:t>❌  Zero statistical rigor — no p-values, no significance</a:t>
            </a:r>
          </a:p>
          <a:p>
            <a:pPr>
              <a:spcBef>
                <a:spcPts val="500"/>
              </a:spcBef>
              <a:defRPr sz="1200" b="0">
                <a:solidFill>
                  <a:srgbClr val="FAFAFA"/>
                </a:solidFill>
              </a:defRPr>
            </a:pPr>
            <a:r>
              <a:t>❌  Not reproducible — different runs give different counts</a:t>
            </a:r>
          </a:p>
          <a:p>
            <a:pPr>
              <a:spcBef>
                <a:spcPts val="500"/>
              </a:spcBef>
              <a:defRPr sz="1200" b="0">
                <a:solidFill>
                  <a:srgbClr val="FAFAFA"/>
                </a:solidFill>
              </a:defRPr>
            </a:pPr>
            <a:r>
              <a:t>❌  Cannot be patented — prompt engineering is not novel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</a:defRPr>
            </a:pPr>
            <a:r>
              <a:t>ARCHITECTURE: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400" b="1">
                <a:solidFill>
                  <a:srgbClr val="FAFAFA"/>
                </a:solidFill>
              </a:defRPr>
            </a:pPr>
            <a:r>
              <a:t>Engagement-Calibrated Sentiment Diagnostics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1463040" cy="5943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1">
                <a:solidFill>
                  <a:srgbClr val="FAFAFA"/>
                </a:solidFill>
              </a:defRPr>
            </a:pPr>
            <a:r>
              <a:t>YouTube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FAFAFA"/>
                </a:solidFill>
              </a:defRPr>
            </a:pPr>
            <a:r>
              <a:t>URL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8800" y="1755648"/>
            <a:ext cx="548640" cy="0"/>
          </a:xfrm>
          <a:prstGeom prst="line">
            <a:avLst/>
          </a:prstGeom>
          <a:ln w="19050">
            <a:solidFill>
              <a:srgbClr val="A1A1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77440" y="1463040"/>
            <a:ext cx="1645920" cy="5943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1">
                <a:solidFill>
                  <a:srgbClr val="22D3EE"/>
                </a:solidFill>
              </a:defRPr>
            </a:pPr>
            <a:r>
              <a:t>YouTube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22D3EE"/>
                </a:solidFill>
              </a:defRPr>
            </a:pPr>
            <a:r>
              <a:t>Data API v3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23360" y="1755648"/>
            <a:ext cx="548640" cy="0"/>
          </a:xfrm>
          <a:prstGeom prst="line">
            <a:avLst/>
          </a:prstGeom>
          <a:ln w="19050">
            <a:solidFill>
              <a:srgbClr val="A1A1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0" y="1463040"/>
            <a:ext cx="1645920" cy="5943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200" b="1">
                <a:solidFill>
                  <a:srgbClr val="4ADE80"/>
                </a:solidFill>
              </a:defRPr>
            </a:pPr>
            <a:r>
              <a:t>All 500+</a:t>
            </a:r>
          </a:p>
          <a:p>
            <a:pPr algn="ctr">
              <a:spcBef>
                <a:spcPts val="200"/>
              </a:spcBef>
              <a:defRPr sz="1200" b="1">
                <a:solidFill>
                  <a:srgbClr val="4ADE80"/>
                </a:solidFill>
              </a:defRPr>
            </a:pPr>
            <a:r>
              <a:t>Comments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0" y="2057400"/>
            <a:ext cx="0" cy="548640"/>
          </a:xfrm>
          <a:prstGeom prst="line">
            <a:avLst/>
          </a:prstGeom>
          <a:ln w="25400">
            <a:solidFill>
              <a:srgbClr val="4ADE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5760" y="2606040"/>
            <a:ext cx="8046720" cy="3840480"/>
          </a:xfrm>
          <a:prstGeom prst="roundRect">
            <a:avLst/>
          </a:prstGeom>
          <a:solidFill>
            <a:srgbClr val="0A1E14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45720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</a:defRPr>
            </a:pPr>
            <a:r>
              <a:t>100% LOCAL  •  ZERO API  •  ZERO COST  •  &lt; 1.5 SECONDS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08960"/>
            <a:ext cx="1828800" cy="64008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200" b="1">
                <a:solidFill>
                  <a:srgbClr val="22D3EE"/>
                </a:solidFill>
              </a:defRPr>
            </a:pPr>
            <a:r>
              <a:t>VADER Lexicon</a:t>
            </a:r>
          </a:p>
          <a:p>
            <a:pPr algn="ctr">
              <a:spcBef>
                <a:spcPts val="200"/>
              </a:spcBef>
              <a:defRPr sz="1200" b="1">
                <a:solidFill>
                  <a:srgbClr val="22D3EE"/>
                </a:solidFill>
              </a:defRPr>
            </a:pPr>
            <a:r>
              <a:t>Classifier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68880" y="3429000"/>
            <a:ext cx="548640" cy="0"/>
          </a:xfrm>
          <a:prstGeom prst="line">
            <a:avLst/>
          </a:prstGeom>
          <a:ln w="19050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017520" y="3108960"/>
            <a:ext cx="2011680" cy="64008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Engagement</a:t>
            </a:r>
          </a:p>
          <a:p>
            <a:pPr algn="ctr">
              <a:spcBef>
                <a:spcPts val="200"/>
              </a:spcBef>
              <a:defRPr sz="1000" b="1">
                <a:solidFill>
                  <a:srgbClr val="3B82F6"/>
                </a:solidFill>
              </a:defRPr>
            </a:pPr>
            <a:r>
              <a:t>Weight Calculator</a:t>
            </a:r>
          </a:p>
          <a:p>
            <a:pPr algn="ctr">
              <a:spcBef>
                <a:spcPts val="200"/>
              </a:spcBef>
              <a:defRPr sz="1000" b="1">
                <a:solidFill>
                  <a:srgbClr val="3B82F6"/>
                </a:solidFill>
              </a:defRPr>
            </a:pPr>
            <a:r>
              <a:t>w = 1+ln(1+likes)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0" y="3429000"/>
            <a:ext cx="548640" cy="0"/>
          </a:xfrm>
          <a:prstGeom prst="line">
            <a:avLst/>
          </a:prstGeom>
          <a:ln w="190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577840" y="2971800"/>
            <a:ext cx="1188720" cy="457200"/>
          </a:xfrm>
          <a:prstGeom prst="roundRect">
            <a:avLst/>
          </a:prstGeom>
          <a:solidFill>
            <a:srgbClr val="27272A"/>
          </a:solidFill>
          <a:ln w="19050">
            <a:solidFill>
              <a:srgbClr val="A1A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900" b="1">
                <a:solidFill>
                  <a:srgbClr val="A1A1AA"/>
                </a:solidFill>
              </a:defRPr>
            </a:pPr>
            <a:r>
              <a:t>Raw</a:t>
            </a:r>
          </a:p>
          <a:p>
            <a:pPr algn="ctr">
              <a:spcBef>
                <a:spcPts val="200"/>
              </a:spcBef>
              <a:defRPr sz="900" b="1">
                <a:solidFill>
                  <a:srgbClr val="A1A1AA"/>
                </a:solidFill>
              </a:defRPr>
            </a:pPr>
            <a:r>
              <a:t>Distribution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2971800"/>
            <a:ext cx="1371600" cy="457200"/>
          </a:xfrm>
          <a:prstGeom prst="roundRect">
            <a:avLst/>
          </a:prstGeom>
          <a:solidFill>
            <a:srgbClr val="272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Weighted</a:t>
            </a:r>
          </a:p>
          <a:p>
            <a:pPr algn="ctr">
              <a:spcBef>
                <a:spcPts val="200"/>
              </a:spcBef>
              <a:defRPr sz="900" b="1">
                <a:solidFill>
                  <a:srgbClr val="3B82F6"/>
                </a:solidFill>
              </a:defRPr>
            </a:pPr>
            <a:r>
              <a:t>Distribution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94960" y="3749039"/>
            <a:ext cx="0" cy="365761"/>
          </a:xfrm>
          <a:prstGeom prst="line">
            <a:avLst/>
          </a:prstGeom>
          <a:ln w="19050">
            <a:solidFill>
              <a:srgbClr val="4ADE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" y="4160520"/>
            <a:ext cx="2377440" cy="100584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1">
                <a:solidFill>
                  <a:srgbClr val="A855F7"/>
                </a:solidFill>
              </a:defRPr>
            </a:pPr>
            <a:r>
              <a:t>CONTRIBUTION 1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A855F7"/>
                </a:solidFill>
              </a:defRPr>
            </a:pPr>
            <a:r>
              <a:t>Gini-Gated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A855F7"/>
                </a:solidFill>
              </a:defRPr>
            </a:pPr>
            <a:r>
              <a:t>Reliability (R)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4160520"/>
            <a:ext cx="2377440" cy="100584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1">
                <a:solidFill>
                  <a:srgbClr val="FACC15"/>
                </a:solidFill>
              </a:defRPr>
            </a:pPr>
            <a:r>
              <a:t>CONTRIBUTION 2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FACC15"/>
                </a:solidFill>
              </a:defRPr>
            </a:pPr>
            <a:r>
              <a:t>Majority Flip Test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FACC15"/>
                </a:solidFill>
              </a:defRPr>
            </a:pPr>
            <a:r>
              <a:t>(Phi + p-value)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4160520"/>
            <a:ext cx="2377440" cy="100584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1">
                <a:solidFill>
                  <a:srgbClr val="FB923C"/>
                </a:solidFill>
              </a:defRPr>
            </a:pPr>
            <a:r>
              <a:t>CONTRIBUTION 3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FB923C"/>
                </a:solidFill>
              </a:defRPr>
            </a:pPr>
            <a:r>
              <a:t>Top-K Robustness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FB923C"/>
                </a:solidFill>
              </a:defRPr>
            </a:pPr>
            <a:r>
              <a:t>Curve (rho)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89120" y="5166360"/>
            <a:ext cx="0" cy="457200"/>
          </a:xfrm>
          <a:prstGeom prst="line">
            <a:avLst/>
          </a:prstGeom>
          <a:ln w="25400">
            <a:solidFill>
              <a:srgbClr val="4ADE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286000" y="5623560"/>
            <a:ext cx="4206240" cy="640080"/>
          </a:xfrm>
          <a:prstGeom prst="roundRect">
            <a:avLst/>
          </a:prstGeom>
          <a:solidFill>
            <a:srgbClr val="14281E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200" b="1">
                <a:solidFill>
                  <a:srgbClr val="4ADE80"/>
                </a:solidFill>
              </a:defRPr>
            </a:pPr>
            <a:r>
              <a:t>DIAGNOSTIC REPORT</a:t>
            </a:r>
          </a:p>
          <a:p>
            <a:pPr algn="ctr">
              <a:spcBef>
                <a:spcPts val="200"/>
              </a:spcBef>
              <a:defRPr sz="1200" b="1">
                <a:solidFill>
                  <a:srgbClr val="4ADE80"/>
                </a:solidFill>
              </a:defRPr>
            </a:pPr>
            <a:r>
              <a:t>R-score  •  Flip (p-value)  •  Robustness (rho)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17920" y="1755648"/>
            <a:ext cx="2560320" cy="0"/>
          </a:xfrm>
          <a:prstGeom prst="line">
            <a:avLst/>
          </a:prstGeom>
          <a:ln w="19050">
            <a:solidFill>
              <a:srgbClr val="A1A1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778240" y="2606040"/>
            <a:ext cx="3017520" cy="3840480"/>
          </a:xfrm>
          <a:prstGeom prst="roundRect">
            <a:avLst/>
          </a:prstGeom>
          <a:solidFill>
            <a:srgbClr val="141423"/>
          </a:solidFill>
          <a:ln w="12700">
            <a:solidFill>
              <a:srgbClr val="A1A1A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2697480"/>
            <a:ext cx="2743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 b="1">
                <a:solidFill>
                  <a:srgbClr val="A1A1AA"/>
                </a:solidFill>
              </a:defRPr>
            </a:pPr>
            <a:r>
              <a:t>OPTIONAL — GEMINI (SUMMARY ONLY)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3108960"/>
            <a:ext cx="2468880" cy="640080"/>
          </a:xfrm>
          <a:prstGeom prst="roundRect">
            <a:avLst/>
          </a:prstGeom>
          <a:solidFill>
            <a:srgbClr val="27272A"/>
          </a:solidFill>
          <a:ln w="19050">
            <a:solidFill>
              <a:srgbClr val="A1A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1">
                <a:solidFill>
                  <a:srgbClr val="A1A1AA"/>
                </a:solidFill>
              </a:defRPr>
            </a:pPr>
            <a:r>
              <a:t>Gemini API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A1A1AA"/>
                </a:solidFill>
              </a:defRPr>
            </a:pPr>
            <a:r>
              <a:t>(Summary &amp; Topics)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3931920"/>
            <a:ext cx="2468880" cy="502920"/>
          </a:xfrm>
          <a:prstGeom prst="roundRect">
            <a:avLst/>
          </a:prstGeom>
          <a:solidFill>
            <a:srgbClr val="27272A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000" b="0">
                <a:solidFill>
                  <a:srgbClr val="A1A1AA"/>
                </a:solidFill>
              </a:defRPr>
            </a:pPr>
            <a:r>
              <a:t>Executive Summary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4572000"/>
            <a:ext cx="2468880" cy="502920"/>
          </a:xfrm>
          <a:prstGeom prst="roundRect">
            <a:avLst/>
          </a:prstGeom>
          <a:solidFill>
            <a:srgbClr val="27272A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000" b="0">
                <a:solidFill>
                  <a:srgbClr val="A1A1AA"/>
                </a:solidFill>
              </a:defRPr>
            </a:pPr>
            <a:r>
              <a:t>Key Themes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5212080"/>
            <a:ext cx="2468880" cy="502920"/>
          </a:xfrm>
          <a:prstGeom prst="roundRect">
            <a:avLst/>
          </a:prstGeom>
          <a:solidFill>
            <a:srgbClr val="27272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000" b="1">
                <a:solidFill>
                  <a:srgbClr val="4ADE80"/>
                </a:solidFill>
              </a:defRPr>
            </a:pPr>
            <a:r>
              <a:t>Offline Fallback</a:t>
            </a:r>
          </a:p>
          <a:p>
            <a:pPr algn="ctr">
              <a:spcBef>
                <a:spcPts val="200"/>
              </a:spcBef>
              <a:defRPr sz="1000" b="1">
                <a:solidFill>
                  <a:srgbClr val="4ADE80"/>
                </a:solidFill>
              </a:defRPr>
            </a:pPr>
            <a:r>
              <a:t>(if credits run out)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287000" y="1755648"/>
            <a:ext cx="0" cy="850392"/>
          </a:xfrm>
          <a:prstGeom prst="line">
            <a:avLst/>
          </a:prstGeom>
          <a:ln w="19050">
            <a:solidFill>
              <a:srgbClr val="A1A1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SIDE-BY-SIDE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400" b="1">
                <a:solidFill>
                  <a:srgbClr val="FAFAFA"/>
                </a:solidFill>
              </a:defRPr>
            </a:pPr>
            <a:r>
              <a:t>What Changed — Technical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377440" cy="475488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1">
                <a:solidFill>
                  <a:srgbClr val="22D3EE"/>
                </a:solidFill>
              </a:defRPr>
            </a:pPr>
            <a:r>
              <a:t>Sentiment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1371600"/>
            <a:ext cx="3931920" cy="475488"/>
          </a:xfrm>
          <a:prstGeom prst="roundRect">
            <a:avLst/>
          </a:prstGeom>
          <a:solidFill>
            <a:srgbClr val="281414"/>
          </a:solidFill>
          <a:ln w="19050">
            <a:solidFill>
              <a:srgbClr val="5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0">
                <a:solidFill>
                  <a:srgbClr val="F87171"/>
                </a:solidFill>
              </a:defRPr>
            </a:pPr>
            <a:r>
              <a:t>Cloud Gemini prompt guessing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371600"/>
            <a:ext cx="4389120" cy="475488"/>
          </a:xfrm>
          <a:prstGeom prst="roundRect">
            <a:avLst/>
          </a:prstGeom>
          <a:solidFill>
            <a:srgbClr val="0F2319"/>
          </a:solidFill>
          <a:ln w="190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0">
                <a:solidFill>
                  <a:srgbClr val="4ADE80"/>
                </a:solidFill>
              </a:defRPr>
            </a:pPr>
            <a:r>
              <a:t>Local VADER Lexicon (CPU)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38528"/>
            <a:ext cx="2377440" cy="475488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1">
                <a:solidFill>
                  <a:srgbClr val="22D3EE"/>
                </a:solidFill>
              </a:defRPr>
            </a:pPr>
            <a:r>
              <a:t>API Credits Required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938528"/>
            <a:ext cx="3931920" cy="475488"/>
          </a:xfrm>
          <a:prstGeom prst="roundRect">
            <a:avLst/>
          </a:prstGeom>
          <a:solidFill>
            <a:srgbClr val="281414"/>
          </a:solidFill>
          <a:ln w="19050">
            <a:solidFill>
              <a:srgbClr val="5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0">
                <a:solidFill>
                  <a:srgbClr val="F87171"/>
                </a:solidFill>
              </a:defRPr>
            </a:pPr>
            <a:r>
              <a:t>100% — crashes when 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938528"/>
            <a:ext cx="4389120" cy="475488"/>
          </a:xfrm>
          <a:prstGeom prst="roundRect">
            <a:avLst/>
          </a:prstGeom>
          <a:solidFill>
            <a:srgbClr val="0F2319"/>
          </a:solidFill>
          <a:ln w="190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0">
                <a:solidFill>
                  <a:srgbClr val="4ADE80"/>
                </a:solidFill>
              </a:defRPr>
            </a:pPr>
            <a:r>
              <a:t>Zero for sentiment/diagnostics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05456"/>
            <a:ext cx="2377440" cy="475488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1">
                <a:solidFill>
                  <a:srgbClr val="22D3EE"/>
                </a:solidFill>
              </a:defRPr>
            </a:pPr>
            <a:r>
              <a:t>Comments Analyzed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2505456"/>
            <a:ext cx="3931920" cy="475488"/>
          </a:xfrm>
          <a:prstGeom prst="roundRect">
            <a:avLst/>
          </a:prstGeom>
          <a:solidFill>
            <a:srgbClr val="281414"/>
          </a:solidFill>
          <a:ln w="19050">
            <a:solidFill>
              <a:srgbClr val="5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0">
                <a:solidFill>
                  <a:srgbClr val="F87171"/>
                </a:solidFill>
              </a:defRPr>
            </a:pPr>
            <a:r>
              <a:t>Top 150 sampled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505456"/>
            <a:ext cx="4389120" cy="475488"/>
          </a:xfrm>
          <a:prstGeom prst="roundRect">
            <a:avLst/>
          </a:prstGeom>
          <a:solidFill>
            <a:srgbClr val="0F2319"/>
          </a:solidFill>
          <a:ln w="190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0">
                <a:solidFill>
                  <a:srgbClr val="4ADE80"/>
                </a:solidFill>
              </a:defRPr>
            </a:pPr>
            <a:r>
              <a:t>All 500+ deterministically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72384"/>
            <a:ext cx="2377440" cy="475488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1">
                <a:solidFill>
                  <a:srgbClr val="22D3EE"/>
                </a:solidFill>
              </a:defRPr>
            </a:pPr>
            <a:r>
              <a:t>Execution Speed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3072384"/>
            <a:ext cx="3931920" cy="475488"/>
          </a:xfrm>
          <a:prstGeom prst="roundRect">
            <a:avLst/>
          </a:prstGeom>
          <a:solidFill>
            <a:srgbClr val="281414"/>
          </a:solidFill>
          <a:ln w="19050">
            <a:solidFill>
              <a:srgbClr val="5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0">
                <a:solidFill>
                  <a:srgbClr val="F87171"/>
                </a:solidFill>
              </a:defRPr>
            </a:pPr>
            <a:r>
              <a:t>5–15 sec (network)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3072384"/>
            <a:ext cx="4389120" cy="475488"/>
          </a:xfrm>
          <a:prstGeom prst="roundRect">
            <a:avLst/>
          </a:prstGeom>
          <a:solidFill>
            <a:srgbClr val="0F2319"/>
          </a:solidFill>
          <a:ln w="190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0">
                <a:solidFill>
                  <a:srgbClr val="4ADE80"/>
                </a:solidFill>
              </a:defRPr>
            </a:pPr>
            <a:r>
              <a:t>&lt; 1.5 sec (local CPU)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39312"/>
            <a:ext cx="2377440" cy="475488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1">
                <a:solidFill>
                  <a:srgbClr val="22D3EE"/>
                </a:solidFill>
              </a:defRPr>
            </a:pPr>
            <a:r>
              <a:t>Statistical Rigor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3639312"/>
            <a:ext cx="3931920" cy="475488"/>
          </a:xfrm>
          <a:prstGeom prst="roundRect">
            <a:avLst/>
          </a:prstGeom>
          <a:solidFill>
            <a:srgbClr val="281414"/>
          </a:solidFill>
          <a:ln w="19050">
            <a:solidFill>
              <a:srgbClr val="5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0">
                <a:solidFill>
                  <a:srgbClr val="F87171"/>
                </a:solidFill>
              </a:defRPr>
            </a:pPr>
            <a:r>
              <a:t>None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3639312"/>
            <a:ext cx="4389120" cy="475488"/>
          </a:xfrm>
          <a:prstGeom prst="roundRect">
            <a:avLst/>
          </a:prstGeom>
          <a:solidFill>
            <a:srgbClr val="0F2319"/>
          </a:solidFill>
          <a:ln w="190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0">
                <a:solidFill>
                  <a:srgbClr val="4ADE80"/>
                </a:solidFill>
              </a:defRPr>
            </a:pPr>
            <a:r>
              <a:t>Permutation test (p-value)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06240"/>
            <a:ext cx="2377440" cy="475488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1">
                <a:solidFill>
                  <a:srgbClr val="22D3EE"/>
                </a:solidFill>
              </a:defRPr>
            </a:pPr>
            <a:r>
              <a:t>Noise / Bot Filter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3240" y="4206240"/>
            <a:ext cx="3931920" cy="475488"/>
          </a:xfrm>
          <a:prstGeom prst="roundRect">
            <a:avLst/>
          </a:prstGeom>
          <a:solidFill>
            <a:srgbClr val="281414"/>
          </a:solidFill>
          <a:ln w="19050">
            <a:solidFill>
              <a:srgbClr val="5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0">
                <a:solidFill>
                  <a:srgbClr val="F87171"/>
                </a:solidFill>
              </a:defRPr>
            </a:pPr>
            <a:r>
              <a:t>None — counts spam equally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4206240"/>
            <a:ext cx="4389120" cy="475488"/>
          </a:xfrm>
          <a:prstGeom prst="roundRect">
            <a:avLst/>
          </a:prstGeom>
          <a:solidFill>
            <a:srgbClr val="0F2319"/>
          </a:solidFill>
          <a:ln w="190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0">
                <a:solidFill>
                  <a:srgbClr val="4ADE80"/>
                </a:solidFill>
              </a:defRPr>
            </a:pPr>
            <a:r>
              <a:t>Gini inequality gate (R-score)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73168"/>
            <a:ext cx="2377440" cy="475488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1">
                <a:solidFill>
                  <a:srgbClr val="22D3EE"/>
                </a:solidFill>
              </a:defRPr>
            </a:pPr>
            <a:r>
              <a:t>Outlier Sensitivity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63240" y="4773168"/>
            <a:ext cx="3931920" cy="475488"/>
          </a:xfrm>
          <a:prstGeom prst="roundRect">
            <a:avLst/>
          </a:prstGeom>
          <a:solidFill>
            <a:srgbClr val="281414"/>
          </a:solidFill>
          <a:ln w="19050">
            <a:solidFill>
              <a:srgbClr val="5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0">
                <a:solidFill>
                  <a:srgbClr val="F87171"/>
                </a:solidFill>
              </a:defRPr>
            </a:pPr>
            <a:r>
              <a:t>One viral comment skews 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4773168"/>
            <a:ext cx="4389120" cy="475488"/>
          </a:xfrm>
          <a:prstGeom prst="roundRect">
            <a:avLst/>
          </a:prstGeom>
          <a:solidFill>
            <a:srgbClr val="0F2319"/>
          </a:solidFill>
          <a:ln w="190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0">
                <a:solidFill>
                  <a:srgbClr val="4ADE80"/>
                </a:solidFill>
              </a:defRPr>
            </a:pPr>
            <a:r>
              <a:t>Top-K robustness curve (rho)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40096"/>
            <a:ext cx="2377440" cy="475488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1">
                <a:solidFill>
                  <a:srgbClr val="22D3EE"/>
                </a:solidFill>
              </a:defRPr>
            </a:pPr>
            <a:r>
              <a:t>Reproducibility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63240" y="5340096"/>
            <a:ext cx="3931920" cy="475488"/>
          </a:xfrm>
          <a:prstGeom prst="roundRect">
            <a:avLst/>
          </a:prstGeom>
          <a:solidFill>
            <a:srgbClr val="281414"/>
          </a:solidFill>
          <a:ln w="19050">
            <a:solidFill>
              <a:srgbClr val="5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0">
                <a:solidFill>
                  <a:srgbClr val="F87171"/>
                </a:solidFill>
              </a:defRPr>
            </a:pPr>
            <a:r>
              <a:t>Non-deterministic LLM output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0" y="5340096"/>
            <a:ext cx="4389120" cy="475488"/>
          </a:xfrm>
          <a:prstGeom prst="roundRect">
            <a:avLst/>
          </a:prstGeom>
          <a:solidFill>
            <a:srgbClr val="0F2319"/>
          </a:solidFill>
          <a:ln w="190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0">
                <a:solidFill>
                  <a:srgbClr val="4ADE80"/>
                </a:solidFill>
              </a:defRPr>
            </a:pPr>
            <a:r>
              <a:t>100% deterministic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907024"/>
            <a:ext cx="2377440" cy="475488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1">
                <a:solidFill>
                  <a:srgbClr val="22D3EE"/>
                </a:solidFill>
              </a:defRPr>
            </a:pPr>
            <a:r>
              <a:t>Patentability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63240" y="5907024"/>
            <a:ext cx="3931920" cy="475488"/>
          </a:xfrm>
          <a:prstGeom prst="roundRect">
            <a:avLst/>
          </a:prstGeom>
          <a:solidFill>
            <a:srgbClr val="281414"/>
          </a:solidFill>
          <a:ln w="19050">
            <a:solidFill>
              <a:srgbClr val="5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0">
                <a:solidFill>
                  <a:srgbClr val="F87171"/>
                </a:solidFill>
              </a:defRPr>
            </a:pPr>
            <a:r>
              <a:t>Zero — prompt engineering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0" y="5907024"/>
            <a:ext cx="4389120" cy="475488"/>
          </a:xfrm>
          <a:prstGeom prst="roundRect">
            <a:avLst/>
          </a:prstGeom>
          <a:solidFill>
            <a:srgbClr val="0F2319"/>
          </a:solidFill>
          <a:ln w="190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>
              <a:defRPr sz="1100" b="0">
                <a:solidFill>
                  <a:srgbClr val="4ADE80"/>
                </a:solidFill>
              </a:defRPr>
            </a:pPr>
            <a:r>
              <a:t>Defensible diagnostic claims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1097280"/>
            <a:ext cx="39319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100" b="1">
                <a:solidFill>
                  <a:srgbClr val="F87171"/>
                </a:solidFill>
              </a:defRPr>
            </a:pPr>
            <a:r>
              <a:t>BEFORE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1097280"/>
            <a:ext cx="43891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100" b="1">
                <a:solidFill>
                  <a:srgbClr val="4ADE80"/>
                </a:solidFill>
              </a:defRPr>
            </a:pPr>
            <a:r>
              <a:t>AFTER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200" b="1">
                <a:solidFill>
                  <a:srgbClr val="A855F7"/>
                </a:solidFill>
              </a:defRPr>
            </a:pPr>
            <a:r>
              <a:t>NOVEL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400" b="1">
                <a:solidFill>
                  <a:srgbClr val="FAFAFA"/>
                </a:solidFill>
              </a:defRPr>
            </a:pPr>
            <a:r>
              <a:t>Three Diagnostic Metrics — The Patentable 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Bef>
                <a:spcPts val="0"/>
              </a:spcBef>
              <a:defRPr sz="1000" b="1">
                <a:solidFill>
                  <a:srgbClr val="A855F7"/>
                </a:solidFill>
              </a:defRPr>
            </a:pPr>
            <a:r>
              <a:t>CONTRIBUTION 1</a:t>
            </a:r>
          </a:p>
          <a:p>
            <a:pPr>
              <a:spcBef>
                <a:spcPts val="400"/>
              </a:spcBef>
              <a:defRPr sz="1700" b="1">
                <a:solidFill>
                  <a:srgbClr val="FAFAFA"/>
                </a:solidFill>
              </a:defRPr>
            </a:pPr>
            <a:r>
              <a:t>Gini-Gated</a:t>
            </a:r>
            <a:br/>
            <a:r>
              <a:t>Reliability (R)</a:t>
            </a:r>
          </a:p>
          <a:p>
            <a:pPr>
              <a:spcBef>
                <a:spcPts val="400"/>
              </a:spcBef>
              <a:defRPr sz="400" b="0">
                <a:solidFill>
                  <a:srgbClr val="FAFAFA"/>
                </a:solidFill>
              </a:defRPr>
            </a:pPr>
          </a:p>
          <a:p>
            <a:pPr>
              <a:spcBef>
                <a:spcPts val="400"/>
              </a:spcBef>
              <a:defRPr sz="900" b="1">
                <a:solidFill>
                  <a:srgbClr val="A855F7"/>
                </a:solidFill>
              </a:defRPr>
            </a:pPr>
            <a:r>
              <a:t>THE PROBLEM</a:t>
            </a:r>
          </a:p>
          <a:p>
            <a:pPr>
              <a:spcBef>
                <a:spcPts val="400"/>
              </a:spcBef>
              <a:defRPr sz="1100" b="0">
                <a:solidFill>
                  <a:srgbClr val="A1A1AA"/>
                </a:solidFill>
              </a:defRPr>
            </a:pPr>
            <a:r>
              <a:t>A weighted sentiment shift might be</a:t>
            </a:r>
            <a:br/>
            <a:r>
              <a:t>driven by 1000 users agreeing — or</a:t>
            </a:r>
            <a:br/>
            <a:r>
              <a:t>just 1 viral meme comment.</a:t>
            </a:r>
          </a:p>
          <a:p>
            <a:pPr>
              <a:spcBef>
                <a:spcPts val="400"/>
              </a:spcBef>
              <a:defRPr sz="400" b="0">
                <a:solidFill>
                  <a:srgbClr val="FAFAFA"/>
                </a:solidFill>
              </a:defRPr>
            </a:pPr>
          </a:p>
          <a:p>
            <a:pPr>
              <a:spcBef>
                <a:spcPts val="400"/>
              </a:spcBef>
              <a:defRPr sz="900" b="1">
                <a:solidFill>
                  <a:srgbClr val="A855F7"/>
                </a:solidFill>
              </a:defRPr>
            </a:pPr>
            <a:r>
              <a:t>FORMULA</a:t>
            </a:r>
          </a:p>
          <a:p>
            <a:pPr>
              <a:spcBef>
                <a:spcPts val="400"/>
              </a:spcBef>
              <a:defRPr sz="1100" b="1">
                <a:solidFill>
                  <a:srgbClr val="4ADE80"/>
                </a:solidFill>
              </a:defRPr>
            </a:pPr>
            <a:r>
              <a:t>R = (1-G) × max(0, 1-CV²/10)</a:t>
            </a:r>
          </a:p>
          <a:p>
            <a:pPr>
              <a:spcBef>
                <a:spcPts val="400"/>
              </a:spcBef>
              <a:defRPr sz="400" b="0">
                <a:solidFill>
                  <a:srgbClr val="FAFAFA"/>
                </a:solidFill>
              </a:defRPr>
            </a:pPr>
          </a:p>
          <a:p>
            <a:pPr>
              <a:spcBef>
                <a:spcPts val="400"/>
              </a:spcBef>
              <a:defRPr sz="900" b="1">
                <a:solidFill>
                  <a:srgbClr val="A855F7"/>
                </a:solidFill>
              </a:defRPr>
            </a:pPr>
            <a:r>
              <a:t>DIAGNOSTIC OUTPUT</a:t>
            </a:r>
          </a:p>
          <a:p>
            <a:pPr>
              <a:spcBef>
                <a:spcPts val="400"/>
              </a:spcBef>
              <a:defRPr sz="1100" b="0">
                <a:solidFill>
                  <a:srgbClr val="FAFAFA"/>
                </a:solidFill>
              </a:defRPr>
            </a:pPr>
            <a:r>
              <a:t>R &gt;= 0.6 → HIGH (broad consensus)</a:t>
            </a:r>
            <a:br/>
            <a:r>
              <a:t>R &lt; 0.3 → LOW (outlier-driven, fragile)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Bef>
                <a:spcPts val="0"/>
              </a:spcBef>
              <a:defRPr sz="1000" b="1">
                <a:solidFill>
                  <a:srgbClr val="FACC15"/>
                </a:solidFill>
              </a:defRPr>
            </a:pPr>
            <a:r>
              <a:t>CONTRIBUTION 2</a:t>
            </a:r>
          </a:p>
          <a:p>
            <a:pPr>
              <a:spcBef>
                <a:spcPts val="400"/>
              </a:spcBef>
              <a:defRPr sz="1700" b="1">
                <a:solidFill>
                  <a:srgbClr val="FAFAFA"/>
                </a:solidFill>
              </a:defRPr>
            </a:pPr>
            <a:r>
              <a:t>Majority Flip</a:t>
            </a:r>
            <a:br/>
            <a:r>
              <a:t>Test (Φ + p)</a:t>
            </a:r>
          </a:p>
          <a:p>
            <a:pPr>
              <a:spcBef>
                <a:spcPts val="400"/>
              </a:spcBef>
              <a:defRPr sz="400" b="0">
                <a:solidFill>
                  <a:srgbClr val="FAFAFA"/>
                </a:solidFill>
              </a:defRPr>
            </a:pPr>
          </a:p>
          <a:p>
            <a:pPr>
              <a:spcBef>
                <a:spcPts val="400"/>
              </a:spcBef>
              <a:defRPr sz="900" b="1">
                <a:solidFill>
                  <a:srgbClr val="FACC15"/>
                </a:solidFill>
              </a:defRPr>
            </a:pPr>
            <a:r>
              <a:t>THE PROBLEM</a:t>
            </a:r>
          </a:p>
          <a:p>
            <a:pPr>
              <a:spcBef>
                <a:spcPts val="400"/>
              </a:spcBef>
              <a:defRPr sz="1100" b="0">
                <a:solidFill>
                  <a:srgbClr val="A1A1AA"/>
                </a:solidFill>
              </a:defRPr>
            </a:pPr>
            <a:r>
              <a:t>Does engagement weighting actually</a:t>
            </a:r>
            <a:br/>
            <a:r>
              <a:t>change which sentiment wins, or is</a:t>
            </a:r>
            <a:br/>
            <a:r>
              <a:t>the shift just random noise?</a:t>
            </a:r>
          </a:p>
          <a:p>
            <a:pPr>
              <a:spcBef>
                <a:spcPts val="400"/>
              </a:spcBef>
              <a:defRPr sz="400" b="0">
                <a:solidFill>
                  <a:srgbClr val="FAFAFA"/>
                </a:solidFill>
              </a:defRPr>
            </a:pPr>
          </a:p>
          <a:p>
            <a:pPr>
              <a:spcBef>
                <a:spcPts val="400"/>
              </a:spcBef>
              <a:defRPr sz="900" b="1">
                <a:solidFill>
                  <a:srgbClr val="FACC15"/>
                </a:solidFill>
              </a:defRPr>
            </a:pPr>
            <a:r>
              <a:t>FORMULA</a:t>
            </a:r>
          </a:p>
          <a:p>
            <a:pPr>
              <a:spcBef>
                <a:spcPts val="400"/>
              </a:spcBef>
              <a:defRPr sz="1100" b="1">
                <a:solidFill>
                  <a:srgbClr val="4ADE80"/>
                </a:solidFill>
              </a:defRPr>
            </a:pPr>
            <a:r>
              <a:t>1,000 Monte Carlo Permutations</a:t>
            </a:r>
            <a:br/>
            <a:r>
              <a:t>Shuffle weights → exact p-value</a:t>
            </a:r>
          </a:p>
          <a:p>
            <a:pPr>
              <a:spcBef>
                <a:spcPts val="400"/>
              </a:spcBef>
              <a:defRPr sz="400" b="0">
                <a:solidFill>
                  <a:srgbClr val="FAFAFA"/>
                </a:solidFill>
              </a:defRPr>
            </a:pPr>
          </a:p>
          <a:p>
            <a:pPr>
              <a:spcBef>
                <a:spcPts val="400"/>
              </a:spcBef>
              <a:defRPr sz="900" b="1">
                <a:solidFill>
                  <a:srgbClr val="FACC15"/>
                </a:solidFill>
              </a:defRPr>
            </a:pPr>
            <a:r>
              <a:t>DIAGNOSTIC OUTPUT</a:t>
            </a:r>
          </a:p>
          <a:p>
            <a:pPr>
              <a:spcBef>
                <a:spcPts val="400"/>
              </a:spcBef>
              <a:defRPr sz="1100" b="0">
                <a:solidFill>
                  <a:srgbClr val="FAFAFA"/>
                </a:solidFill>
              </a:defRPr>
            </a:pPr>
            <a:r>
              <a:t>Φ=1 &amp; p&lt;0.05 → Significant flip</a:t>
            </a:r>
            <a:br/>
            <a:r>
              <a:t>Φ=0 or p&gt;0.05 → No real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Bef>
                <a:spcPts val="0"/>
              </a:spcBef>
              <a:defRPr sz="1000" b="1">
                <a:solidFill>
                  <a:srgbClr val="FB923C"/>
                </a:solidFill>
              </a:defRPr>
            </a:pPr>
            <a:r>
              <a:t>CONTRIBUTION 3</a:t>
            </a:r>
          </a:p>
          <a:p>
            <a:pPr>
              <a:spcBef>
                <a:spcPts val="400"/>
              </a:spcBef>
              <a:defRPr sz="1700" b="1">
                <a:solidFill>
                  <a:srgbClr val="FAFAFA"/>
                </a:solidFill>
              </a:defRPr>
            </a:pPr>
            <a:r>
              <a:t>Leave-Top-K</a:t>
            </a:r>
            <a:br/>
            <a:r>
              <a:t>Robustness (ρ)</a:t>
            </a:r>
          </a:p>
          <a:p>
            <a:pPr>
              <a:spcBef>
                <a:spcPts val="400"/>
              </a:spcBef>
              <a:defRPr sz="400" b="0">
                <a:solidFill>
                  <a:srgbClr val="FAFAFA"/>
                </a:solidFill>
              </a:defRPr>
            </a:pPr>
          </a:p>
          <a:p>
            <a:pPr>
              <a:spcBef>
                <a:spcPts val="400"/>
              </a:spcBef>
              <a:defRPr sz="900" b="1">
                <a:solidFill>
                  <a:srgbClr val="FB923C"/>
                </a:solidFill>
              </a:defRPr>
            </a:pPr>
            <a:r>
              <a:t>THE PROBLEM</a:t>
            </a:r>
          </a:p>
          <a:p>
            <a:pPr>
              <a:spcBef>
                <a:spcPts val="400"/>
              </a:spcBef>
              <a:defRPr sz="1100" b="0">
                <a:solidFill>
                  <a:srgbClr val="A1A1AA"/>
                </a:solidFill>
              </a:defRPr>
            </a:pPr>
            <a:r>
              <a:t>If YouTube removes or downranks</a:t>
            </a:r>
            <a:br/>
            <a:r>
              <a:t>the top viral comments, does the</a:t>
            </a:r>
            <a:br/>
            <a:r>
              <a:t>conclusion survive?</a:t>
            </a:r>
          </a:p>
          <a:p>
            <a:pPr>
              <a:spcBef>
                <a:spcPts val="400"/>
              </a:spcBef>
              <a:defRPr sz="400" b="0">
                <a:solidFill>
                  <a:srgbClr val="FAFAFA"/>
                </a:solidFill>
              </a:defRPr>
            </a:pPr>
          </a:p>
          <a:p>
            <a:pPr>
              <a:spcBef>
                <a:spcPts val="400"/>
              </a:spcBef>
              <a:defRPr sz="900" b="1">
                <a:solidFill>
                  <a:srgbClr val="FB923C"/>
                </a:solidFill>
              </a:defRPr>
            </a:pPr>
            <a:r>
              <a:t>FORMULA</a:t>
            </a:r>
          </a:p>
          <a:p>
            <a:pPr>
              <a:spcBef>
                <a:spcPts val="400"/>
              </a:spcBef>
              <a:defRPr sz="1100" b="1">
                <a:solidFill>
                  <a:srgbClr val="4ADE80"/>
                </a:solidFill>
              </a:defRPr>
            </a:pPr>
            <a:r>
              <a:t>ρ = 1 - |d₀ - d₁₀| / d₀</a:t>
            </a:r>
            <a:br/>
            <a:r>
              <a:t>Prune K=1,2,5,10 top comments</a:t>
            </a:r>
          </a:p>
          <a:p>
            <a:pPr>
              <a:spcBef>
                <a:spcPts val="400"/>
              </a:spcBef>
              <a:defRPr sz="400" b="0">
                <a:solidFill>
                  <a:srgbClr val="FAFAFA"/>
                </a:solidFill>
              </a:defRPr>
            </a:pPr>
          </a:p>
          <a:p>
            <a:pPr>
              <a:spcBef>
                <a:spcPts val="400"/>
              </a:spcBef>
              <a:defRPr sz="900" b="1">
                <a:solidFill>
                  <a:srgbClr val="FB923C"/>
                </a:solidFill>
              </a:defRPr>
            </a:pPr>
            <a:r>
              <a:t>DIAGNOSTIC OUTPUT</a:t>
            </a:r>
          </a:p>
          <a:p>
            <a:pPr>
              <a:spcBef>
                <a:spcPts val="400"/>
              </a:spcBef>
              <a:defRPr sz="1100" b="0">
                <a:solidFill>
                  <a:srgbClr val="FAFAFA"/>
                </a:solidFill>
              </a:defRPr>
            </a:pPr>
            <a:r>
              <a:t>ρ &gt;= 0.75 → Highly Robust</a:t>
            </a:r>
            <a:br/>
            <a:r>
              <a:t>ρ &lt; 0.4 → Fragile, outlier-dependent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</a:defRPr>
            </a:pPr>
            <a:r>
              <a:t>EMPIRICAL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400" b="1">
                <a:solidFill>
                  <a:srgbClr val="FAFAFA"/>
                </a:solidFill>
              </a:defRPr>
            </a:pPr>
            <a:r>
              <a:t>Pilot Benchmark on Live YouTube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Bef>
                <a:spcPts val="300"/>
              </a:spcBef>
              <a:defRPr sz="1100" b="1">
                <a:solidFill>
                  <a:srgbClr val="3B82F6"/>
                </a:solidFill>
              </a:defRPr>
            </a:pPr>
            <a:r>
              <a:t>CASE A: ORGANIC CONTENT</a:t>
            </a:r>
          </a:p>
          <a:p>
            <a:pPr>
              <a:spcBef>
                <a:spcPts val="300"/>
              </a:spcBef>
              <a:defRPr sz="1500" b="1">
                <a:solidFill>
                  <a:srgbClr val="FAFAFA"/>
                </a:solidFill>
              </a:defRPr>
            </a:pPr>
            <a:r>
              <a:t>Never Gonna Give You Up (100 comments)</a:t>
            </a:r>
          </a:p>
          <a:p>
            <a:pPr>
              <a:spcBef>
                <a:spcPts val="300"/>
              </a:spcBef>
              <a:defRPr sz="500" b="0">
                <a:solidFill>
                  <a:srgbClr val="FAFAFA"/>
                </a:solidFill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A1A1AA"/>
                </a:solidFill>
              </a:defRPr>
            </a:pPr>
            <a:r>
              <a:t>Raw Majority:          Neutral (64.6%)</a:t>
            </a:r>
          </a:p>
          <a:p>
            <a:pPr>
              <a:spcBef>
                <a:spcPts val="300"/>
              </a:spcBef>
              <a:defRPr sz="1200" b="0">
                <a:solidFill>
                  <a:srgbClr val="A1A1AA"/>
                </a:solidFill>
              </a:defRPr>
            </a:pPr>
            <a:r>
              <a:t>Weighted Majority:   Neutral (66.3%)</a:t>
            </a:r>
          </a:p>
          <a:p>
            <a:pPr>
              <a:spcBef>
                <a:spcPts val="300"/>
              </a:spcBef>
              <a:defRPr sz="500" b="0">
                <a:solidFill>
                  <a:srgbClr val="FAFAFA"/>
                </a:solidFill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4ADE80"/>
                </a:solidFill>
              </a:defRPr>
            </a:pPr>
            <a:r>
              <a:t>Majority Flip:           NO</a:t>
            </a:r>
          </a:p>
          <a:p>
            <a:pPr>
              <a:spcBef>
                <a:spcPts val="300"/>
              </a:spcBef>
              <a:defRPr sz="1200" b="0">
                <a:solidFill>
                  <a:srgbClr val="A1A1AA"/>
                </a:solidFill>
              </a:defRPr>
            </a:pPr>
            <a:r>
              <a:t>Permutation p-value:  0.5135 (not significant)</a:t>
            </a:r>
          </a:p>
          <a:p>
            <a:pPr>
              <a:spcBef>
                <a:spcPts val="300"/>
              </a:spcBef>
              <a:defRPr sz="500" b="0">
                <a:solidFill>
                  <a:srgbClr val="FAFAFA"/>
                </a:solidFill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A1A1AA"/>
                </a:solidFill>
              </a:defRPr>
            </a:pPr>
            <a:r>
              <a:t>Gini Index:               0.19 (low inequality)</a:t>
            </a:r>
          </a:p>
          <a:p>
            <a:pPr>
              <a:spcBef>
                <a:spcPts val="300"/>
              </a:spcBef>
              <a:defRPr sz="1300" b="1">
                <a:solidFill>
                  <a:srgbClr val="4ADE80"/>
                </a:solidFill>
              </a:defRPr>
            </a:pPr>
            <a:r>
              <a:t>Reliability R-Score:   0.79 (HIGH)</a:t>
            </a:r>
          </a:p>
          <a:p>
            <a:pPr>
              <a:spcBef>
                <a:spcPts val="300"/>
              </a:spcBef>
              <a:defRPr sz="500" b="0">
                <a:solidFill>
                  <a:srgbClr val="FAFAFA"/>
                </a:solidFill>
              </a:defRPr>
            </a:pPr>
          </a:p>
          <a:p>
            <a:pPr>
              <a:spcBef>
                <a:spcPts val="300"/>
              </a:spcBef>
              <a:defRPr sz="1000" b="1">
                <a:solidFill>
                  <a:srgbClr val="3B82F6"/>
                </a:solidFill>
              </a:defRPr>
            </a:pPr>
            <a:r>
              <a:t>CONCLUSION</a:t>
            </a:r>
          </a:p>
          <a:p>
            <a:pPr>
              <a:spcBef>
                <a:spcPts val="300"/>
              </a:spcBef>
              <a:defRPr sz="1200" b="0">
                <a:solidFill>
                  <a:srgbClr val="FAFAFA"/>
                </a:solidFill>
              </a:defRPr>
            </a:pPr>
            <a:r>
              <a:t>Engagement aligns with comment volume.</a:t>
            </a:r>
          </a:p>
          <a:p>
            <a:pPr>
              <a:spcBef>
                <a:spcPts val="300"/>
              </a:spcBef>
              <a:defRPr sz="1200" b="0">
                <a:solidFill>
                  <a:srgbClr val="FAFAFA"/>
                </a:solidFill>
              </a:defRPr>
            </a:pPr>
            <a:r>
              <a:t>Raw counting is sufficient here.</a:t>
            </a:r>
          </a:p>
          <a:p>
            <a:pPr>
              <a:spcBef>
                <a:spcPts val="300"/>
              </a:spcBef>
              <a:defRPr sz="1200" b="0">
                <a:solidFill>
                  <a:srgbClr val="FAFAFA"/>
                </a:solidFill>
              </a:defRPr>
            </a:pPr>
            <a:r>
              <a:t>The diagnostic correctly reports stability.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18181B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Bef>
                <a:spcPts val="300"/>
              </a:spcBef>
              <a:defRPr sz="1100" b="1">
                <a:solidFill>
                  <a:srgbClr val="F87171"/>
                </a:solidFill>
              </a:defRPr>
            </a:pPr>
            <a:r>
              <a:t>CASE B: POLARIZED DISCUSSION</a:t>
            </a:r>
          </a:p>
          <a:p>
            <a:pPr>
              <a:spcBef>
                <a:spcPts val="300"/>
              </a:spcBef>
              <a:defRPr sz="1500" b="1">
                <a:solidFill>
                  <a:srgbClr val="FAFAFA"/>
                </a:solidFill>
              </a:defRPr>
            </a:pPr>
            <a:r>
              <a:t>Controversial Product / Launch (7 comments)</a:t>
            </a:r>
          </a:p>
          <a:p>
            <a:pPr>
              <a:spcBef>
                <a:spcPts val="300"/>
              </a:spcBef>
              <a:defRPr sz="500" b="0">
                <a:solidFill>
                  <a:srgbClr val="FAFAFA"/>
                </a:solidFill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4ADE80"/>
                </a:solidFill>
              </a:defRPr>
            </a:pPr>
            <a:r>
              <a:t>Raw Majority:          Positive (57.1%)</a:t>
            </a:r>
          </a:p>
          <a:p>
            <a:pPr>
              <a:spcBef>
                <a:spcPts val="300"/>
              </a:spcBef>
              <a:defRPr sz="1200" b="1">
                <a:solidFill>
                  <a:srgbClr val="F87171"/>
                </a:solidFill>
              </a:defRPr>
            </a:pPr>
            <a:r>
              <a:t>Weighted Majority:   Negative (62.3%)</a:t>
            </a:r>
          </a:p>
          <a:p>
            <a:pPr>
              <a:spcBef>
                <a:spcPts val="300"/>
              </a:spcBef>
              <a:defRPr sz="500" b="0">
                <a:solidFill>
                  <a:srgbClr val="FAFAFA"/>
                </a:solidFill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F87171"/>
                </a:solidFill>
              </a:defRPr>
            </a:pPr>
            <a:r>
              <a:t>Majority Flip:           YES  ⚠</a:t>
            </a:r>
          </a:p>
          <a:p>
            <a:pPr>
              <a:spcBef>
                <a:spcPts val="300"/>
              </a:spcBef>
              <a:defRPr sz="1200" b="1">
                <a:solidFill>
                  <a:srgbClr val="FACC15"/>
                </a:solidFill>
              </a:defRPr>
            </a:pPr>
            <a:r>
              <a:t>Permutation p-value:  0.048 (SIGNIFICANT)</a:t>
            </a:r>
          </a:p>
          <a:p>
            <a:pPr>
              <a:spcBef>
                <a:spcPts val="300"/>
              </a:spcBef>
              <a:defRPr sz="500" b="0">
                <a:solidFill>
                  <a:srgbClr val="FAFAFA"/>
                </a:solidFill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A1A1AA"/>
                </a:solidFill>
              </a:defRPr>
            </a:pPr>
            <a:r>
              <a:t>Gini Index:               0.39 (moderate inequality)</a:t>
            </a:r>
          </a:p>
          <a:p>
            <a:pPr>
              <a:spcBef>
                <a:spcPts val="300"/>
              </a:spcBef>
              <a:defRPr sz="1300" b="1">
                <a:solidFill>
                  <a:srgbClr val="FB923C"/>
                </a:solidFill>
              </a:defRPr>
            </a:pPr>
            <a:r>
              <a:t>Reliability R-Score:   0.57 (MODERATE)</a:t>
            </a:r>
          </a:p>
          <a:p>
            <a:pPr>
              <a:spcBef>
                <a:spcPts val="300"/>
              </a:spcBef>
              <a:defRPr sz="500" b="0">
                <a:solidFill>
                  <a:srgbClr val="FAFAFA"/>
                </a:solidFill>
              </a:defRPr>
            </a:pPr>
          </a:p>
          <a:p>
            <a:pPr>
              <a:spcBef>
                <a:spcPts val="300"/>
              </a:spcBef>
              <a:defRPr sz="1000" b="1">
                <a:solidFill>
                  <a:srgbClr val="F87171"/>
                </a:solidFill>
              </a:defRPr>
            </a:pPr>
            <a:r>
              <a:t>CONCLUSION</a:t>
            </a:r>
          </a:p>
          <a:p>
            <a:pPr>
              <a:spcBef>
                <a:spcPts val="300"/>
              </a:spcBef>
              <a:defRPr sz="1200" b="0">
                <a:solidFill>
                  <a:srgbClr val="FAFAFA"/>
                </a:solidFill>
              </a:defRPr>
            </a:pPr>
            <a:r>
              <a:t>Raw count showed 57% positive — MISLEADING.</a:t>
            </a:r>
          </a:p>
          <a:p>
            <a:pPr>
              <a:spcBef>
                <a:spcPts val="300"/>
              </a:spcBef>
              <a:defRPr sz="1200" b="0">
                <a:solidFill>
                  <a:srgbClr val="FAFAFA"/>
                </a:solidFill>
              </a:defRPr>
            </a:pPr>
            <a:r>
              <a:t>Community actually endorsed negativity.</a:t>
            </a:r>
          </a:p>
          <a:p>
            <a:pPr>
              <a:spcBef>
                <a:spcPts val="300"/>
              </a:spcBef>
              <a:defRPr sz="1200" b="0">
                <a:solidFill>
                  <a:srgbClr val="FAFAFA"/>
                </a:solidFill>
              </a:defRPr>
            </a:pPr>
            <a:r>
              <a:t>Framework detected and flagged the flip.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</a:defRPr>
            </a:pPr>
            <a:r>
              <a:t>PUBLICATION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400" b="1">
                <a:solidFill>
                  <a:srgbClr val="FAFAFA"/>
                </a:solidFill>
              </a:defRPr>
            </a:pPr>
            <a:r>
              <a:t>Next Steps for Journal Submission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Bef>
                <a:spcPts val="300"/>
              </a:spcBef>
              <a:defRPr sz="1100" b="1">
                <a:solidFill>
                  <a:srgbClr val="3B82F6"/>
                </a:solidFill>
              </a:defRPr>
            </a:pPr>
            <a:r>
              <a:t>TARGET VENUES</a:t>
            </a:r>
          </a:p>
          <a:p>
            <a:pPr>
              <a:spcBef>
                <a:spcPts val="300"/>
              </a:spcBef>
              <a:defRPr sz="500" b="0">
                <a:solidFill>
                  <a:srgbClr val="FAFAFA"/>
                </a:solidFill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FAFAFA"/>
                </a:solidFill>
              </a:defRPr>
            </a:pPr>
            <a:r>
              <a:t>Scopus-Indexed Journals:</a:t>
            </a:r>
          </a:p>
          <a:p>
            <a:pPr>
              <a:spcBef>
                <a:spcPts val="300"/>
              </a:spcBef>
              <a:defRPr sz="1200" b="0">
                <a:solidFill>
                  <a:srgbClr val="A1A1AA"/>
                </a:solidFill>
              </a:defRPr>
            </a:pPr>
            <a:r>
              <a:t>  •  Social Network Analysis &amp; Mining (Springer)</a:t>
            </a:r>
          </a:p>
          <a:p>
            <a:pPr>
              <a:spcBef>
                <a:spcPts val="300"/>
              </a:spcBef>
              <a:defRPr sz="1200" b="0">
                <a:solidFill>
                  <a:srgbClr val="A1A1AA"/>
                </a:solidFill>
              </a:defRPr>
            </a:pPr>
            <a:r>
              <a:t>  •  Journal of Computational Social Science</a:t>
            </a:r>
          </a:p>
          <a:p>
            <a:pPr>
              <a:spcBef>
                <a:spcPts val="300"/>
              </a:spcBef>
              <a:defRPr sz="1200" b="0">
                <a:solidFill>
                  <a:srgbClr val="A1A1AA"/>
                </a:solidFill>
              </a:defRPr>
            </a:pPr>
            <a:r>
              <a:t>  •  IEEE Access</a:t>
            </a:r>
          </a:p>
          <a:p>
            <a:pPr>
              <a:spcBef>
                <a:spcPts val="300"/>
              </a:spcBef>
              <a:defRPr sz="1200" b="0">
                <a:solidFill>
                  <a:srgbClr val="A1A1AA"/>
                </a:solidFill>
              </a:defRPr>
            </a:pPr>
            <a:r>
              <a:t>  •  PLOS ONE</a:t>
            </a:r>
          </a:p>
          <a:p>
            <a:pPr>
              <a:spcBef>
                <a:spcPts val="300"/>
              </a:spcBef>
              <a:defRPr sz="500" b="0">
                <a:solidFill>
                  <a:srgbClr val="FAFAFA"/>
                </a:solidFill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FAFAFA"/>
                </a:solidFill>
              </a:defRPr>
            </a:pPr>
            <a:r>
              <a:t>IEEE Conferences:</a:t>
            </a:r>
          </a:p>
          <a:p>
            <a:pPr>
              <a:spcBef>
                <a:spcPts val="300"/>
              </a:spcBef>
              <a:defRPr sz="1200" b="0">
                <a:solidFill>
                  <a:srgbClr val="A1A1AA"/>
                </a:solidFill>
              </a:defRPr>
            </a:pPr>
            <a:r>
              <a:t>  •  ICCCNT / ICAISC / IEEE Big Data</a:t>
            </a:r>
          </a:p>
          <a:p>
            <a:pPr>
              <a:spcBef>
                <a:spcPts val="300"/>
              </a:spcBef>
              <a:defRPr sz="500" b="0">
                <a:solidFill>
                  <a:srgbClr val="FAFAFA"/>
                </a:solidFill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FAFAFA"/>
                </a:solidFill>
              </a:defRPr>
            </a:pPr>
            <a:r>
              <a:t>Paper Title (Proposed):</a:t>
            </a:r>
          </a:p>
          <a:p>
            <a:pPr>
              <a:spcBef>
                <a:spcPts val="300"/>
              </a:spcBef>
              <a:defRPr sz="1100" b="0">
                <a:solidFill>
                  <a:srgbClr val="4ADE80"/>
                </a:solidFill>
              </a:defRPr>
            </a:pPr>
            <a:r>
              <a:t>"A Diagnostic Framework for Reliability</a:t>
            </a:r>
          </a:p>
          <a:p>
            <a:pPr>
              <a:spcBef>
                <a:spcPts val="300"/>
              </a:spcBef>
              <a:defRPr sz="1100" b="0">
                <a:solidFill>
                  <a:srgbClr val="4ADE80"/>
                </a:solidFill>
              </a:defRPr>
            </a:pPr>
            <a:r>
              <a:t>of Engagement-Weighted Sentiment Analysis</a:t>
            </a:r>
          </a:p>
          <a:p>
            <a:pPr>
              <a:spcBef>
                <a:spcPts val="300"/>
              </a:spcBef>
              <a:defRPr sz="1100" b="0">
                <a:solidFill>
                  <a:srgbClr val="4ADE80"/>
                </a:solidFill>
              </a:defRPr>
            </a:pPr>
            <a:r>
              <a:t>in YouTube Comment Corpora"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Bef>
                <a:spcPts val="300"/>
              </a:spcBef>
              <a:defRPr sz="1100" b="1">
                <a:solidFill>
                  <a:srgbClr val="4ADE80"/>
                </a:solidFill>
              </a:defRPr>
            </a:pPr>
            <a:r>
              <a:t>ACTION ITEMS</a:t>
            </a:r>
          </a:p>
          <a:p>
            <a:pPr>
              <a:spcBef>
                <a:spcPts val="300"/>
              </a:spcBef>
              <a:defRPr sz="500" b="0">
                <a:solidFill>
                  <a:srgbClr val="FAFAFA"/>
                </a:solidFill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FAFAFA"/>
                </a:solidFill>
              </a:defRPr>
            </a:pPr>
            <a:r>
              <a:t>Step 1: Multi-Video Benchmark</a:t>
            </a:r>
          </a:p>
          <a:p>
            <a:pPr>
              <a:spcBef>
                <a:spcPts val="300"/>
              </a:spcBef>
              <a:defRPr sz="1100" b="0">
                <a:solidFill>
                  <a:srgbClr val="A1A1AA"/>
                </a:solidFill>
              </a:defRPr>
            </a:pPr>
            <a:r>
              <a:t>Add 12 YouTube URLs (controversial, tutorial,</a:t>
            </a:r>
          </a:p>
          <a:p>
            <a:pPr>
              <a:spcBef>
                <a:spcPts val="300"/>
              </a:spcBef>
              <a:defRPr sz="1100" b="0">
                <a:solidFill>
                  <a:srgbClr val="A1A1AA"/>
                </a:solidFill>
              </a:defRPr>
            </a:pPr>
            <a:r>
              <a:t>music) to experiments/run_pilot_benchmark.py</a:t>
            </a:r>
          </a:p>
          <a:p>
            <a:pPr>
              <a:spcBef>
                <a:spcPts val="300"/>
              </a:spcBef>
              <a:defRPr sz="500" b="0">
                <a:solidFill>
                  <a:srgbClr val="FAFAFA"/>
                </a:solidFill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FAFAFA"/>
                </a:solidFill>
              </a:defRPr>
            </a:pPr>
            <a:r>
              <a:t>Step 2: Run Benchmark (2 min, $0)</a:t>
            </a:r>
          </a:p>
          <a:p>
            <a:pPr>
              <a:spcBef>
                <a:spcPts val="300"/>
              </a:spcBef>
              <a:defRPr sz="1100" b="1">
                <a:solidFill>
                  <a:srgbClr val="22D3EE"/>
                </a:solidFill>
              </a:defRPr>
            </a:pPr>
            <a:r>
              <a:t>python experiments/run_pilot_benchmark.py</a:t>
            </a:r>
          </a:p>
          <a:p>
            <a:pPr>
              <a:spcBef>
                <a:spcPts val="300"/>
              </a:spcBef>
              <a:defRPr sz="1100" b="0">
                <a:solidFill>
                  <a:srgbClr val="A1A1AA"/>
                </a:solidFill>
              </a:defRPr>
            </a:pPr>
            <a:r>
              <a:t>Outputs data/pilot_benchmark_results.csv</a:t>
            </a:r>
          </a:p>
          <a:p>
            <a:pPr>
              <a:spcBef>
                <a:spcPts val="300"/>
              </a:spcBef>
              <a:defRPr sz="500" b="0">
                <a:solidFill>
                  <a:srgbClr val="FAFAFA"/>
                </a:solidFill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FAFAFA"/>
                </a:solidFill>
              </a:defRPr>
            </a:pPr>
            <a:r>
              <a:t>Step 3: Insert Table 1 into Paper</a:t>
            </a:r>
          </a:p>
          <a:p>
            <a:pPr>
              <a:spcBef>
                <a:spcPts val="300"/>
              </a:spcBef>
              <a:defRPr sz="1100" b="0">
                <a:solidFill>
                  <a:srgbClr val="A1A1AA"/>
                </a:solidFill>
              </a:defRPr>
            </a:pPr>
            <a:r>
              <a:t>CSV → LaTeX/Word table with R, p-values, rho</a:t>
            </a:r>
          </a:p>
          <a:p>
            <a:pPr>
              <a:spcBef>
                <a:spcPts val="300"/>
              </a:spcBef>
              <a:defRPr sz="500" b="0">
                <a:solidFill>
                  <a:srgbClr val="FAFAFA"/>
                </a:solidFill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FAFAFA"/>
                </a:solidFill>
              </a:defRPr>
            </a:pPr>
            <a:r>
              <a:t>Step 4: Draft Methodology Section</a:t>
            </a:r>
          </a:p>
          <a:p>
            <a:pPr>
              <a:spcBef>
                <a:spcPts val="300"/>
              </a:spcBef>
              <a:defRPr sz="1100" b="0">
                <a:solidFill>
                  <a:srgbClr val="A1A1AA"/>
                </a:solidFill>
              </a:defRPr>
            </a:pPr>
            <a:r>
              <a:t>Frame around: "When can you trust</a:t>
            </a:r>
          </a:p>
          <a:p>
            <a:pPr>
              <a:spcBef>
                <a:spcPts val="300"/>
              </a:spcBef>
              <a:defRPr sz="1100" b="0">
                <a:solidFill>
                  <a:srgbClr val="A1A1AA"/>
                </a:solidFill>
              </a:defRPr>
            </a:pPr>
            <a:r>
              <a:t>engagement-weighted sentiment?"</a:t>
            </a:r>
          </a:p>
          <a:p>
            <a:pPr>
              <a:spcBef>
                <a:spcPts val="300"/>
              </a:spcBef>
              <a:defRPr sz="500" b="0">
                <a:solidFill>
                  <a:srgbClr val="FAFAFA"/>
                </a:solidFill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FAFAFA"/>
                </a:solidFill>
              </a:defRPr>
            </a:pPr>
            <a:r>
              <a:t>Step 5: Human Validation (5-10 annotators)</a:t>
            </a:r>
          </a:p>
          <a:p>
            <a:pPr>
              <a:spcBef>
                <a:spcPts val="300"/>
              </a:spcBef>
              <a:defRPr sz="1100" b="0">
                <a:solidFill>
                  <a:srgbClr val="A1A1AA"/>
                </a:solidFill>
              </a:defRPr>
            </a:pPr>
            <a:r>
              <a:t>Compare raw vs weighted vs human judgment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